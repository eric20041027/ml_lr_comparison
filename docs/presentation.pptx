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動態學習率排程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20574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之效能對比與特徵視覺化分析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3017520"/>
            <a:ext cx="137160" cy="137160"/>
          </a:xfrm>
          <a:prstGeom prst="ellips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9260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ResNet-18 × Tiny-ImageNet &amp; Imagewoof × 5 Schedulers × pretrained / from-scratch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4297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機器學習期末專題  ·  2026/05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動機與研究問題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study learning-rate schedulers, and what do we actually want to know?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4297680" cy="96012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34440"/>
            <a:ext cx="73152" cy="9601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3258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34440" y="13258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衰減策略真的重要嗎？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34440" y="17373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整段固定 LR 的對照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377440"/>
            <a:ext cx="4297680" cy="96012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377440"/>
            <a:ext cx="73152" cy="9601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4688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24688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 排名穩定嗎？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34440" y="28803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跨資料集（200 類 vs 10 類細粒度）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520440"/>
            <a:ext cx="4297680" cy="96012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520440"/>
            <a:ext cx="73152" cy="9601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6118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34440" y="36118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pretrained 與 from-scratch 場景下，最佳 scheduler 一致嗎？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120640" y="1234440"/>
            <a:ext cx="3566160" cy="310896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0" y="14173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本研究方法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303520" y="1783080"/>
            <a:ext cx="32918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三組對照實驗</a:t>
            </a:r>
            <a:endParaRPr lang="en-US" sz="1400" dirty="0"/>
          </a:p>
          <a:p>
            <a:pPr lvl="1" marL="3556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Tiny-ImageNet (200 類, pretrained)</a:t>
            </a:r>
            <a:endParaRPr lang="en-US" sz="1400" dirty="0"/>
          </a:p>
          <a:p>
            <a:pPr lvl="1" marL="3556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Imagewoof (10 類, pretrained)</a:t>
            </a:r>
            <a:endParaRPr lang="en-US" sz="1400" dirty="0"/>
          </a:p>
          <a:p>
            <a:pPr lvl="1" marL="3556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Imagewoof (10 類, from-scratch + 強增強)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種 scheduler 同條件對比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 質化視覺化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動態學習率排程之效能對比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五種學習率排程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形狀差異是本研究唯一變量 — 其他超參數全部對齊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3657600" cy="50292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417320"/>
            <a:ext cx="137160" cy="137160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2801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103120" y="12801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全程不衰減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920240"/>
            <a:ext cx="137160" cy="1371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7830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StepLR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103120" y="17830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 N epoch 斷崖式衰減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240280"/>
            <a:ext cx="3657600" cy="50292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2423160"/>
            <a:ext cx="137160" cy="1371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2860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103120" y="22860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餘弦平滑退火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2926080"/>
            <a:ext cx="137160" cy="1371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27889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Restart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103120" y="27889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帶重啟的餘弦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246120"/>
            <a:ext cx="3657600" cy="50292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3429000"/>
            <a:ext cx="137160" cy="1371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32918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OneCycle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103120" y="32918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先升後降（含 warmup）</a:t>
            </a:r>
            <a:endParaRPr lang="en-US" sz="1200" dirty="0"/>
          </a:p>
        </p:txBody>
      </p:sp>
      <p:pic>
        <p:nvPicPr>
          <p:cNvPr id="22" name="Image 0" descr="C:\Users\USER\Desktop\MachineLearning\results\imagewoof_scratch\lr_curv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0" y="1188720"/>
            <a:ext cx="4480560" cy="251460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4297680" y="374904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實例：Imagewoof from-scratch (80 epoch) 的 5 種 LR 形狀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4114800"/>
            <a:ext cx="8229600" cy="50292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94360" y="41605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5 個 scheduler 共用相同 base_lr、weight_decay、batch、aug — 唯一差異是「LR 隨時間的形狀」。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動態學習率排程之效能對比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實驗設定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controlled groups, identical evaluation protocol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828800"/>
                <a:gridCol w="1645920"/>
                <a:gridCol w="640080"/>
                <a:gridCol w="1463040"/>
                <a:gridCol w="109728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實驗組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資料集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Backbone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Epoch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Augmentation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MixUp / 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Tiny-IN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Tiny-ImageNet (200)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ResNet-18 (pretrained)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Imagewoof (pre)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Imagewoof (10)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ResNet-18 (pretrained)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Imagewoof (scratch)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Imagewoof (10)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ResNet-18 (random)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RandAugment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α=0.2 / 0.1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3108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共同設定（保證公平性）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3584448"/>
            <a:ext cx="91440" cy="9144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85800" y="34747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AdamW · weight_decay 5e-4 · seed 42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754880" y="3584448"/>
            <a:ext cx="91440" cy="9144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983480" y="34747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A100 GPU · batch=384 · AMP + TF32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57200" y="3950208"/>
            <a:ext cx="91440" cy="9144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85800" y="38404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image_size 224 × 224 (利於 Grad-CAM 7×7 特徵圖)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754880" y="3950208"/>
            <a:ext cx="91440" cy="9144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983480" y="38404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每組 5 個 scheduler 共用同 base_lr、同 augmentation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57200" y="4315968"/>
            <a:ext cx="91440" cy="9144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85800" y="42062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在早 / 中 / 晚期各存一份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動態學習率排程之效能對比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實驗一：Tiny-ImageNet (200 類)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Pretrained ResNet-18 · 20 epoch · ~25 min/組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475488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005840"/>
                <a:gridCol w="1005840"/>
                <a:gridCol w="118872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Scheduler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Val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 Val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Train-Val Gap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cosine_restart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70.57%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62.97%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step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69.97%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69.82%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cosine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69.40%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69.32%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onecycle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66.42%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66.35%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33.3%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fixed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62.69%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61.21%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33.3%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5" name="Image 0" descr="C:\Users\USER\Desktop\MachineLearning\results\tiny_imagenet\curv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0680" y="1188720"/>
            <a:ext cx="3383280" cy="22860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3840480"/>
            <a:ext cx="8229600" cy="82296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594360" y="3886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關鍵觀察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594360" y="416052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任何衰減策略都顯著優於 Fixed (+3.7 ~ +7.9 pt)。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CosineRestart 雖 best 領先，但 final 跌 7.6 pt → 末次重啟破壞收斂。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Train-Val gap 28–33% → 過擬合明顯（每類僅 ~500 張）。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動態學習率排程之效能對比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實驗二：Imagewoof (10 類細粒度狗品種)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Pretrained ResNet-18 · 20 epoch · ~5 min/組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475488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005840"/>
                <a:gridCol w="1005840"/>
                <a:gridCol w="118872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Scheduler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Val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 Val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Train-Val Gap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cosine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91.86%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91.86%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8.08%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cosine_restart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91.86%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84.25%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11.79%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step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91.50%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91.45%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8.27%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onecycle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88.60%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88.60%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10.27%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fixed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86.36%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82.67%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15.34%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5" name="Image 0" descr="C:\Users\USER\Desktop\MachineLearning\results\imagewoof\curv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0680" y="1188720"/>
            <a:ext cx="3383280" cy="22860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3840480"/>
            <a:ext cx="8229600" cy="82296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594360" y="3886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關鍵觀察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594360" y="416052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絕對精度躍升至 86–92%（pretrained 對小資料集的關鍵作用）。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Train-Val gap 縮減至 8–15%，過擬合主因確認為「每類樣本不足」。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CosineRestart 末次重啟災難重現：best 91.86 → final 84.25 (-7.61 pt)。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動態學習率排程之效能對比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跨資料集發現：排名穩定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Tiny-ImageNet vs Imagewoof（兩者皆 pretrained）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011680"/>
                <a:gridCol w="2011680"/>
                <a:gridCol w="237744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Scheduler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Tiny-IN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Imagewoof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兩者排名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cosine_restart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70.57% (1)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91.86% (1)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並列冠軍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step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69.97% (2)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91.50% (3)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前段班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cosine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69.40% (3)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91.86% (1)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前段班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onecycle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66.42% (4)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88.60% (4)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穩定第 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fixed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62.69% (5)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86.36% (5)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穩定殿底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703320"/>
            <a:ext cx="8229600" cy="105156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94360" y="37673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初步結論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94360" y="4041648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種排程的相對排名在 Tiny-ImageNet 與 Imagewoof 上「幾乎完全一致」 — 看起來結論具備跨資料集 robustness。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94360" y="4416552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但下一頁，我們把 pretrained 拿掉 …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動態學習率排程之效能對比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實驗三：Imagewoof from-scratch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拿掉 ImageNet pretrained，補上強增強配方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926080"/>
                <a:gridCol w="292608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設定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Pretrained Imagewoof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From-scratch Imagewoof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Backbone 初始化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ImageNet pretrained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隨機初始化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Epochs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Augmentation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RandAugment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MixUp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α = 0.2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Label smoothing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base_lr (A100 effective)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9e-4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1.5e-3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每組訓練時間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 分鐘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~21 分鐘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94360" y="39136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為什麼做這組？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94360" y="420624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驗證「scheduler 排名」是否獨立於「是否有 ImageNet pretrained 起點」 — 這是 Tiny-IN + Imagewoof 雙保險還無法回答的問題。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· 動態學習率排程之效能對比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關鍵發現：排名大反轉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OneCycle 從第 4 躍居第 1；Step 從第 2 跌至第 5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463040"/>
                <a:gridCol w="1645920"/>
                <a:gridCol w="1737360"/>
                <a:gridCol w="155448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Scheduler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Tiny-IN (pre)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Imagewoof (pre)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Imagewoof (scratch)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變化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onecycle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66.42 (4)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88.60 (4)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86.71 (1) ⭐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cosine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69.40 (3)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91.86 (1)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84.12 (2)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穩定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cosine_restart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70.57 (1)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91.86 (1)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82.13 (3)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fixed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62.69 (5)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86.36 (5)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80.63 (4)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step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69.97 (2)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91.50 (3)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79.84 (5)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749040"/>
            <a:ext cx="8229600" cy="96012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94360" y="38221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修正後的結論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94360" y="411480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 排名「跨資料集穩定」但「跨訓練狀態 (pre / scratch) 重大反轉」。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任何「某 scheduler 普遍最好」的論述都需條件化。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· 動態學習率排程之效能對比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為什麼 OneCycle 在 from-scratch 翻身？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 LR 曲線 + 訓練曲線 + Grad-CAM 三方互證</a:t>
            </a:r>
            <a:endParaRPr lang="en-US" sz="1300" dirty="0"/>
          </a:p>
        </p:txBody>
      </p:sp>
      <p:pic>
        <p:nvPicPr>
          <p:cNvPr id="4" name="Image 0" descr="C:\Users\USER\Desktop\MachineLearning\results\imagewoof_scratch\curv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4297680" cy="3200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4370832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Imagewoof scratch — train/val curves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4937760" y="1143000"/>
            <a:ext cx="3840480" cy="96012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937760" y="1143000"/>
            <a:ext cx="73152" cy="9601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120640" y="12344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設計初衷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120640" y="1527048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Smith 2018 提出 OneCycle 時即在「從零訓練 ImageNet」設定下，主打 super-convergence。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937760" y="2240280"/>
            <a:ext cx="3840480" cy="96012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937760" y="2240280"/>
            <a:ext cx="73152" cy="9601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120640" y="23317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warmup 階段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120640" y="2624328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隨機初始化權重需要快速「探索」損失曲面；warmup 將 LR 拉升至 1.5e-2 完美達成此目的。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937760" y="3337560"/>
            <a:ext cx="3840480" cy="96012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937760" y="3337560"/>
            <a:ext cx="73152" cy="9601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120640" y="34290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場景反例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5120640" y="3721608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Pretrained 已接近最佳解；同一個峰值反而「打散預訓練特徵」，造成 epoch 2–5 val_loss 飆升。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動態學習率排程之效能對比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質化證據：Grad-CAM 從零形成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Imagewoof from-scratch · OneCycle 在 ep80 鎖定最緊</a:t>
            </a:r>
            <a:endParaRPr lang="en-US" sz="1300" dirty="0"/>
          </a:p>
        </p:txBody>
      </p:sp>
      <p:pic>
        <p:nvPicPr>
          <p:cNvPr id="4" name="Image 0" descr="C:\Users\USER\Desktop\MachineLearning\results\imagewoof_scratch\grad_cam_gri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05840"/>
            <a:ext cx="2999232" cy="3657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730752" y="1005840"/>
            <a:ext cx="4956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行：5 種 scheduler   ·   列：input、ep 5、ep 40、ep 80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3730752" y="1371600"/>
            <a:ext cx="4956048" cy="91440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67912" y="14630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 005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867912" y="1755648"/>
            <a:ext cx="4681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全部 scheduler 注意力散亂（剛開始訓練，隨機初始化）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730752" y="2377440"/>
            <a:ext cx="4956048" cy="91440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867912" y="24688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 040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867912" y="2761488"/>
            <a:ext cx="4681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開始收斂至狗臉中央，邊界仍模糊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730752" y="3383280"/>
            <a:ext cx="4956048" cy="91440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867912" y="34747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 080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3867912" y="3767328"/>
            <a:ext cx="4681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OneCycle 緊密鎖定狗臉、Cosine 次之；CosineRestart 卻散開（末次重啟）；Fixed/Step 仍擴散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動態學習率排程之效能對比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穩定的設計缺陷：CosineRestart 末次重啟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跨三組實驗的 best→final 跌幅高度一致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651760" cy="182880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2801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Tiny-ImageNet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169164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−7.60 pt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94360" y="25146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70.57 → 62.97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83280" y="1188720"/>
            <a:ext cx="2651760" cy="182880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20440" y="12801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Imagewoof (pre)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520440" y="169164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−7.61 pt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520440" y="25146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91.86 → 84.25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09360" y="1188720"/>
            <a:ext cx="2651760" cy="182880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6520" y="12801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Imagewoof (scratch)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46520" y="169164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−6.00 pt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446520" y="25146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82.13 → 76.13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246120"/>
            <a:ext cx="8229600" cy="146304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337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詮釋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94360" y="3611880"/>
            <a:ext cx="7955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跌幅在三組實驗中 ±0.8 pt 之內 → 這不是隨機，是 </a:t>
            </a:r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T_0=epochs/4、T_mult=2 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設定的系統性缺陷。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末次重啟把 LR 重新拉回 ~base，破壞了已收斂的權重。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建議：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永遠採用 best checkpoint 或 early stopping；勿用 final epoch 評估。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· 動態學習率排程之效能對比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三個跨實驗組穩定的核心結論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Cross-experiment robust findings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417320"/>
            <a:ext cx="640080" cy="640080"/>
          </a:xfrm>
          <a:prstGeom prst="ellipse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417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463040" y="132588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排名跨資料集穩定 / 跨訓練狀態反轉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63040" y="169164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Pretrained 場景 cosine 系列 + step 領先；From-scratch 場景 OneCycle 翻身奪冠。「最佳 scheduler」是場景相依的。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331720"/>
            <a:ext cx="8229600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2560320"/>
            <a:ext cx="640080" cy="640080"/>
          </a:xfrm>
          <a:prstGeom prst="ellipse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560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463040" y="246888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CosineRestart 末次重啟災難穩定存在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463040" y="283464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三組實驗 best→final 跌 −6.0 / −7.6 / −7.6 pt — 設計缺陷，與訓練狀態無關。永遠用 best checkpoint 評估。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474720"/>
            <a:ext cx="8229600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3703320"/>
            <a:ext cx="640080" cy="640080"/>
          </a:xfrm>
          <a:prstGeom prst="ellipse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703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463040" y="361188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是最穩健的「default」選擇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463040" y="397764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三組實驗排名：3 / 並列 1 / 2 — 從未奪冠也從未落入後段，零驚喜的安全牌。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· 動態學習率排程之效能對比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限制與未來工作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assessment of what we did not validate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限制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41148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僅單一 seed (42)；排名反轉需更多 seed 驗證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 超參數未做網格搜尋（採文獻預設）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僅單一架構 (ResNet-18)；ViT/EfficientNet 未驗證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from-scratch 配方 4 項一起換上，無法單獨歸因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754880" y="11887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未來工作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754880" y="1600200"/>
            <a:ext cx="3931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 seed (×3) 平均，排除單 seed 巧合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From-scratch 配方分項 ablation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 × optimizer (SGD+M / AdamW) 對比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更大模型 (ResNet-50 / ViT) 推廣性驗證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MixUp / CutMix / RandAug 單獨對 gap 的影響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· 動態學習率排程之效能對比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謝謝聆聽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457200" y="2331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GitHub:  github.com/eric20041027/ML_LR_comparison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詳細報告：docs/REPORT.md   ·   結果封存：results/{tiny_imagenet, imagewoof, imagewoof_scratch}/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動態學習率排程之效能對比與特徵視覺化分析</dc:title>
  <dc:subject>PptxGenJS Presentation</dc:subject>
  <dc:creator>ML LR-comparison project</dc:creator>
  <cp:lastModifiedBy>ML LR-comparison project</cp:lastModifiedBy>
  <cp:revision>1</cp:revision>
  <dcterms:created xsi:type="dcterms:W3CDTF">2026-05-23T05:19:27Z</dcterms:created>
  <dcterms:modified xsi:type="dcterms:W3CDTF">2026-05-23T05:19:27Z</dcterms:modified>
</cp:coreProperties>
</file>